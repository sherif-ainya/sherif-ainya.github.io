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153B10-C44A-46D6-847D-01E0396EFA22}">
          <p14:sldIdLst>
            <p14:sldId id="256"/>
            <p14:sldId id="258"/>
            <p14:sldId id="257"/>
            <p14:sldId id="259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B9FB"/>
    <a:srgbClr val="C1F3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5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7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82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1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6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05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77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82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71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72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5489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74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55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87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40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42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DA52069-F5F6-4A03-A676-39BF315188D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104D373-208B-4385-8721-64EA7DA12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84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ADE4-A4C4-A1C0-A892-D4E33A947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589" y="582168"/>
            <a:ext cx="9404793" cy="1210056"/>
          </a:xfrm>
        </p:spPr>
        <p:txBody>
          <a:bodyPr>
            <a:noAutofit/>
          </a:bodyPr>
          <a:lstStyle/>
          <a:p>
            <a:r>
              <a:rPr lang="en-US" sz="8000" b="1" dirty="0">
                <a:solidFill>
                  <a:srgbClr val="7030A0"/>
                </a:solidFill>
                <a:latin typeface="Algerian" panose="04020705040A02060702" pitchFamily="82" charset="0"/>
              </a:rPr>
              <a:t>MPU 6050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E10DC-3081-D8ED-F680-D1B4FA66C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754" y="2403348"/>
            <a:ext cx="10716768" cy="2295144"/>
          </a:xfrm>
        </p:spPr>
        <p:txBody>
          <a:bodyPr>
            <a:normAutofit/>
          </a:bodyPr>
          <a:lstStyle/>
          <a:p>
            <a:pPr>
              <a:lnSpc>
                <a:spcPts val="1800"/>
              </a:lnSpc>
              <a:buNone/>
            </a:pPr>
            <a:endParaRPr lang="ar-SA" sz="2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2800" dirty="0">
                <a:solidFill>
                  <a:srgbClr val="CCCCCC"/>
                </a:solidFill>
                <a:effectLst/>
                <a:latin typeface="Arial Rounded MT Bold" panose="020F0704030504030204" pitchFamily="34" charset="0"/>
              </a:rPr>
              <a:t>LED Gesture Control Project Using MPU6050 &amp; Arduino</a:t>
            </a:r>
            <a:endParaRPr lang="ar-SA" sz="2800" dirty="0">
              <a:solidFill>
                <a:srgbClr val="CCCCCC"/>
              </a:solidFill>
              <a:effectLst/>
              <a:latin typeface="Arial Rounded MT Bold" panose="020F0704030504030204" pitchFamily="34" charset="0"/>
            </a:endParaRPr>
          </a:p>
          <a:p>
            <a:pPr>
              <a:lnSpc>
                <a:spcPts val="1800"/>
              </a:lnSpc>
              <a:buNone/>
            </a:pPr>
            <a:r>
              <a:rPr lang="ar-SA" sz="22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مشروع التحكم بالإضاءة بحركات اليد</a:t>
            </a:r>
            <a:endParaRPr lang="en-US" sz="22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endParaRPr lang="ar-SA" sz="2200" dirty="0">
              <a:solidFill>
                <a:srgbClr val="569CD6"/>
              </a:solidFill>
              <a:effectLst/>
              <a:latin typeface="Aldhabi" panose="01000000000000000000" pitchFamily="2" charset="-78"/>
              <a:cs typeface="Aldhabi" panose="01000000000000000000" pitchFamily="2" charset="-78"/>
            </a:endParaRPr>
          </a:p>
          <a:p>
            <a:pPr>
              <a:lnSpc>
                <a:spcPts val="1800"/>
              </a:lnSpc>
              <a:buNone/>
            </a:pPr>
            <a:r>
              <a:rPr lang="en-US" sz="2800" dirty="0">
                <a:solidFill>
                  <a:srgbClr val="CCCCCC"/>
                </a:solidFill>
                <a:effectLst/>
                <a:latin typeface="Aldhabi" panose="01000000000000000000" pitchFamily="2" charset="-78"/>
                <a:cs typeface="Aldhabi" panose="01000000000000000000" pitchFamily="2" charset="-78"/>
              </a:rPr>
              <a:t>How to Control a Light with Hand Gestures Using MPU6050 ,  Arduino | (Turn On, Off), Adjust Brightness!</a:t>
            </a:r>
            <a:endParaRPr lang="ar-SA" sz="2800" dirty="0">
              <a:solidFill>
                <a:srgbClr val="CCCCCC"/>
              </a:solidFill>
              <a:effectLst/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6698D3-F2C8-A68A-6727-B9F81ABA76E4}"/>
              </a:ext>
            </a:extLst>
          </p:cNvPr>
          <p:cNvSpPr/>
          <p:nvPr/>
        </p:nvSpPr>
        <p:spPr>
          <a:xfrm>
            <a:off x="-134112" y="6079236"/>
            <a:ext cx="5988431" cy="5501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SA" dirty="0">
                <a:solidFill>
                  <a:schemeClr val="bg2">
                    <a:lumMod val="50000"/>
                    <a:lumOff val="50000"/>
                  </a:schemeClr>
                </a:solidFill>
              </a:rPr>
              <a:t>تقدمة : محمد غليون &amp; شريف غزاله عينيه.</a:t>
            </a:r>
            <a:endParaRPr lang="en-US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DD2097-AA7F-16CC-05E2-4D6F8622AC98}"/>
              </a:ext>
            </a:extLst>
          </p:cNvPr>
          <p:cNvSpPr/>
          <p:nvPr/>
        </p:nvSpPr>
        <p:spPr>
          <a:xfrm>
            <a:off x="6018138" y="6079236"/>
            <a:ext cx="5988431" cy="5501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SA" dirty="0">
                <a:solidFill>
                  <a:schemeClr val="bg2">
                    <a:lumMod val="50000"/>
                    <a:lumOff val="50000"/>
                  </a:schemeClr>
                </a:solidFill>
              </a:rPr>
              <a:t>بإشراف  الأستاذ : محمود حازم.</a:t>
            </a:r>
            <a:endParaRPr lang="en-US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3CA48-7A36-DD12-4884-98FE9A134541}"/>
              </a:ext>
            </a:extLst>
          </p:cNvPr>
          <p:cNvSpPr/>
          <p:nvPr/>
        </p:nvSpPr>
        <p:spPr>
          <a:xfrm>
            <a:off x="2950769" y="5379720"/>
            <a:ext cx="5988431" cy="6995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SA" dirty="0">
                <a:solidFill>
                  <a:schemeClr val="bg2">
                    <a:lumMod val="50000"/>
                    <a:lumOff val="50000"/>
                  </a:schemeClr>
                </a:solidFill>
              </a:rPr>
              <a:t>بإشراف  الدكتور : عيد عبود.</a:t>
            </a:r>
            <a:endParaRPr lang="en-US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0073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C7AB9-0791-616B-95F5-6DD34459C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55" y="609600"/>
            <a:ext cx="10353762" cy="970450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  <a:latin typeface="Algerian" panose="04020705040A02060702" pitchFamily="82" charset="0"/>
              </a:rPr>
              <a:t>Introduction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D21AD-D2D4-E426-6855-3B556DFC8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255" y="1911096"/>
            <a:ext cx="10664033" cy="289864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This project demonstrates an innovative way to control an LED using hand gestures. </a:t>
            </a:r>
          </a:p>
          <a:p>
            <a:pPr algn="ctr"/>
            <a:r>
              <a:rPr lang="en-US" sz="1800" dirty="0"/>
              <a:t>The *MPU6050* motion sensor detects hand movements, and the *Arduino Uno* processes the data to turn the LED </a:t>
            </a:r>
            <a:r>
              <a:rPr lang="ar-SA" sz="1800" dirty="0"/>
              <a:t>)</a:t>
            </a:r>
            <a:r>
              <a:rPr lang="en-US" sz="1800" dirty="0"/>
              <a:t>on/off</a:t>
            </a:r>
            <a:r>
              <a:rPr lang="ar-SA" sz="1800" dirty="0"/>
              <a:t>(</a:t>
            </a:r>
            <a:r>
              <a:rPr lang="en-US" sz="1800" dirty="0"/>
              <a:t> or </a:t>
            </a:r>
            <a:r>
              <a:rPr lang="ar-SA" sz="1800" dirty="0"/>
              <a:t>)</a:t>
            </a:r>
            <a:r>
              <a:rPr lang="en-US" sz="1800" dirty="0"/>
              <a:t>adjust its brightness</a:t>
            </a:r>
            <a:r>
              <a:rPr lang="ar-SA" sz="1800" dirty="0"/>
              <a:t>(</a:t>
            </a:r>
            <a:r>
              <a:rPr lang="en-US" sz="1800" dirty="0"/>
              <a:t> based on the gestures.</a:t>
            </a:r>
          </a:p>
          <a:p>
            <a:pPr marL="36900" indent="0">
              <a:buNone/>
            </a:pPr>
            <a:endParaRPr lang="en-US" dirty="0"/>
          </a:p>
          <a:p>
            <a:pPr marL="36900" indent="0" algn="ctr">
              <a:buNone/>
            </a:pPr>
            <a:r>
              <a:rPr lang="ar-SA" dirty="0"/>
              <a:t>هذا المشروع يقدم طريقة مبتكرة للتحكم في إضاءة اللد باستخدام حركات اليد.</a:t>
            </a:r>
          </a:p>
          <a:p>
            <a:pPr marL="36900" indent="0" algn="ctr">
              <a:buNone/>
            </a:pPr>
            <a:r>
              <a:rPr lang="ar-SA" dirty="0"/>
              <a:t>حيث يقوم حساس الحركة باكتشاف حركات اليد وتقوم لوحة الاردوينو بمعالجة البيانات لتشغيل/إطفاء الـلد أو تعديل سطوعه بناءً على الحركات.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7921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8FCFB-BFCA-5ED0-2C07-A18B73FF5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01752"/>
            <a:ext cx="10353762" cy="10314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  <a:latin typeface="Algerian" panose="04020705040A02060702" pitchFamily="82" charset="0"/>
              </a:rPr>
              <a:t>Project Components &amp; Their Roles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0F52E-CA5D-A214-B5C9-E371C241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17" y="1333162"/>
            <a:ext cx="10353763" cy="5223085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rgbClr val="C6B9FB"/>
                </a:solidFill>
                <a:latin typeface="Bahnschrift" panose="020B0502040204020203" pitchFamily="34" charset="0"/>
              </a:rPr>
              <a:t>Arduino Uno : </a:t>
            </a:r>
          </a:p>
          <a:p>
            <a:pPr marL="871200" lvl="1" indent="-457200">
              <a:buFont typeface="Arial" panose="020B0604020202020204" pitchFamily="34" charset="0"/>
              <a:buChar char="•"/>
            </a:pPr>
            <a:r>
              <a:rPr lang="en-US" dirty="0"/>
              <a:t>The “main microcontroller” that reads sensor data and controls the LED.</a:t>
            </a:r>
          </a:p>
          <a:p>
            <a:pPr marL="871200" lvl="1" indent="-457200">
              <a:buFont typeface="Arial" panose="020B0604020202020204" pitchFamily="34" charset="0"/>
              <a:buChar char="•"/>
            </a:pPr>
            <a:r>
              <a:rPr lang="en-US" dirty="0"/>
              <a:t>It processes signals from the MPU6050 and sends PWM signals to adjust LED brightness.</a:t>
            </a:r>
          </a:p>
          <a:p>
            <a:r>
              <a:rPr lang="en-US" sz="2300" dirty="0">
                <a:solidFill>
                  <a:srgbClr val="C6B9FB"/>
                </a:solidFill>
                <a:latin typeface="Bahnschrift" panose="020B0502040204020203" pitchFamily="34" charset="0"/>
              </a:rPr>
              <a:t>MPU 6050 (Gyroscope + Accelerometer) 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6-axis motion sensor that detects 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900" dirty="0">
                <a:latin typeface="Aldhabi" panose="01000000000000000000" pitchFamily="2" charset="-78"/>
                <a:cs typeface="Aldhabi" panose="01000000000000000000" pitchFamily="2" charset="-78"/>
              </a:rPr>
              <a:t>Tilt (X, Y, Z angles) → Determines hand orientation.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900" dirty="0">
                <a:latin typeface="Aldhabi" panose="01000000000000000000" pitchFamily="2" charset="-78"/>
                <a:cs typeface="Aldhabi" panose="01000000000000000000" pitchFamily="2" charset="-78"/>
              </a:rPr>
              <a:t>Acceleration → Detects quick movements (e.g., shaking).</a:t>
            </a:r>
          </a:p>
          <a:p>
            <a:pPr marL="789750" lvl="1" indent="-285750">
              <a:buFont typeface="Arial" panose="020B0604020202020204" pitchFamily="34" charset="0"/>
              <a:buChar char="•"/>
            </a:pPr>
            <a:r>
              <a:rPr lang="en-US" dirty="0"/>
              <a:t>Sends real-time data to Arduino for gesture recognition.</a:t>
            </a:r>
          </a:p>
          <a:p>
            <a:r>
              <a:rPr lang="en-US" sz="2300" dirty="0">
                <a:solidFill>
                  <a:srgbClr val="C6B9FB"/>
                </a:solidFill>
                <a:latin typeface="Bahnschrift" panose="020B0502040204020203" pitchFamily="34" charset="0"/>
              </a:rPr>
              <a:t>LED :  </a:t>
            </a:r>
            <a:r>
              <a:rPr lang="en-US" dirty="0"/>
              <a:t>The output device that turns on/off or changes brightness based on gestures. </a:t>
            </a:r>
          </a:p>
          <a:p>
            <a:r>
              <a:rPr lang="en-US" sz="2300" dirty="0">
                <a:solidFill>
                  <a:srgbClr val="C6B9FB"/>
                </a:solidFill>
                <a:latin typeface="Bahnschrift" panose="020B0502040204020203" pitchFamily="34" charset="0"/>
              </a:rPr>
              <a:t>Resistor : </a:t>
            </a:r>
            <a:r>
              <a:rPr lang="en-US" dirty="0"/>
              <a:t>Protects the LED from excessive current (prevents burning out). </a:t>
            </a:r>
          </a:p>
          <a:p>
            <a:r>
              <a:rPr lang="en-US" sz="2300" dirty="0">
                <a:solidFill>
                  <a:srgbClr val="C6B9FB"/>
                </a:solidFill>
                <a:latin typeface="Bahnschrift" panose="020B0502040204020203" pitchFamily="34" charset="0"/>
              </a:rPr>
              <a:t>Breadboard : </a:t>
            </a:r>
            <a:r>
              <a:rPr lang="en-US" dirty="0"/>
              <a:t>Used for </a:t>
            </a:r>
            <a:r>
              <a:rPr lang="ar-SA" dirty="0"/>
              <a:t>"</a:t>
            </a:r>
            <a:r>
              <a:rPr lang="en-US" dirty="0"/>
              <a:t>easy prototyping</a:t>
            </a:r>
            <a:r>
              <a:rPr lang="ar-SA" dirty="0"/>
              <a:t>"</a:t>
            </a:r>
            <a:r>
              <a:rPr lang="en-US" dirty="0"/>
              <a:t> and connecting components without soldering.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A90AD-AE28-674E-E25F-F791F9CA5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831" y="1407908"/>
            <a:ext cx="1987075" cy="1482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A3D777-2271-34C3-20B9-69B514D35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837" y="3012765"/>
            <a:ext cx="1917062" cy="1450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99AAD8-A127-BCEB-9FA9-55EDF3CFFF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493" y="4518721"/>
            <a:ext cx="399692" cy="7442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C0DB21-B77D-E9C8-892C-8D0CBF9447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232" y="5369996"/>
            <a:ext cx="1409589" cy="3513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1D7197-E759-4ADF-00E8-41EF4D1BFA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3552" y="5474428"/>
            <a:ext cx="1688010" cy="108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175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EBC4-24D1-A19D-1C2B-00C74103F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91" y="164592"/>
            <a:ext cx="10353762" cy="848530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  <a:latin typeface="Algerian" panose="04020705040A02060702" pitchFamily="82" charset="0"/>
              </a:rPr>
              <a:t>How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  <a:latin typeface="Algerian" panose="04020705040A02060702" pitchFamily="82" charset="0"/>
              </a:rPr>
              <a:t>it works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FDF2-1BF8-B8E4-47C1-2D625EA2B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097872"/>
            <a:ext cx="10353762" cy="5458376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dirty="0">
                <a:solidFill>
                  <a:srgbClr val="C6B9FB"/>
                </a:solidFill>
                <a:latin typeface="Bahnschrift" panose="020B0502040204020203" pitchFamily="34" charset="0"/>
              </a:rPr>
              <a:t>Step 1: Motion Detection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 The MPU6050 continuously measures </a:t>
            </a:r>
            <a:r>
              <a:rPr lang="ar-SA" sz="1600" dirty="0"/>
              <a:t>"</a:t>
            </a:r>
            <a:r>
              <a:rPr lang="en-US" sz="1600" dirty="0"/>
              <a:t>orientation (pitch, roll, yaw)</a:t>
            </a:r>
            <a:r>
              <a:rPr lang="ar-SA" sz="1600" dirty="0"/>
              <a:t>"</a:t>
            </a:r>
            <a:r>
              <a:rPr lang="en-US" sz="1600" dirty="0"/>
              <a:t> and </a:t>
            </a:r>
            <a:r>
              <a:rPr lang="ar-SA" sz="1600" dirty="0"/>
              <a:t>"</a:t>
            </a:r>
            <a:r>
              <a:rPr lang="en-US" sz="1600" dirty="0"/>
              <a:t>acceleration</a:t>
            </a:r>
            <a:r>
              <a:rPr lang="ar-SA" sz="1600" dirty="0"/>
              <a:t>"</a:t>
            </a:r>
            <a:r>
              <a:rPr lang="en-US" sz="1600" dirty="0"/>
              <a:t>.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Example gestures</a:t>
            </a:r>
            <a:r>
              <a:rPr lang="ar-SA" sz="1600" dirty="0"/>
              <a:t> :</a:t>
            </a:r>
            <a:endParaRPr lang="en-US" sz="1600" dirty="0"/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dirty="0">
                <a:latin typeface="Aldhabi" panose="01000000000000000000" pitchFamily="2" charset="-78"/>
                <a:cs typeface="Aldhabi" panose="01000000000000000000" pitchFamily="2" charset="-78"/>
              </a:rPr>
              <a:t> Tilt [Left/Right] → Turn LED [ON/OFF].   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dirty="0">
                <a:latin typeface="Aldhabi" panose="01000000000000000000" pitchFamily="2" charset="-78"/>
                <a:cs typeface="Aldhabi" panose="01000000000000000000" pitchFamily="2" charset="-78"/>
              </a:rPr>
              <a:t>Tilt [Up/Down] → [Increase/Decrease] brightness (PWM control). </a:t>
            </a:r>
          </a:p>
          <a:p>
            <a:pPr marL="36900" indent="0">
              <a:buNone/>
            </a:pPr>
            <a:r>
              <a:rPr lang="en-US" dirty="0">
                <a:solidFill>
                  <a:srgbClr val="C6B9FB"/>
                </a:solidFill>
                <a:latin typeface="Bahnschrift" panose="020B0502040204020203" pitchFamily="34" charset="0"/>
              </a:rPr>
              <a:t>Step 2: Data Processing in Arduino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Arduino reads </a:t>
            </a:r>
            <a:r>
              <a:rPr lang="ar-SA" sz="1600" dirty="0"/>
              <a:t>"</a:t>
            </a:r>
            <a:r>
              <a:rPr lang="en-US" sz="1600" dirty="0"/>
              <a:t>sensor values</a:t>
            </a:r>
            <a:r>
              <a:rPr lang="ar-SA" sz="1600" dirty="0"/>
              <a:t>"</a:t>
            </a:r>
            <a:r>
              <a:rPr lang="en-US" sz="1600" dirty="0"/>
              <a:t> and applies thresholds to detect gestures.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Example logic:   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Aldhabi" panose="01000000000000000000" pitchFamily="2" charset="-78"/>
                <a:cs typeface="Aldhabi" panose="01000000000000000000" pitchFamily="2" charset="-78"/>
              </a:rPr>
              <a:t>if (pitch &gt; 30) { digitalWrite(LED, HIGH); } </a:t>
            </a:r>
            <a:r>
              <a:rPr lang="ar-SA" sz="1800"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lang="en-US" sz="1800" dirty="0">
                <a:latin typeface="Aldhabi" panose="01000000000000000000" pitchFamily="2" charset="-78"/>
                <a:cs typeface="Aldhabi" panose="01000000000000000000" pitchFamily="2" charset="-78"/>
              </a:rPr>
              <a:t>// Turn ON    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Aldhabi" panose="01000000000000000000" pitchFamily="2" charset="-78"/>
                <a:cs typeface="Aldhabi" panose="01000000000000000000" pitchFamily="2" charset="-78"/>
              </a:rPr>
              <a:t>else if (pitch &lt; -30) { digitalWrite(LED, LOW); } </a:t>
            </a:r>
            <a:r>
              <a:rPr lang="ar-SA" sz="1800"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lang="en-US" sz="1800" dirty="0">
                <a:latin typeface="Aldhabi" panose="01000000000000000000" pitchFamily="2" charset="-78"/>
                <a:cs typeface="Aldhabi" panose="01000000000000000000" pitchFamily="2" charset="-78"/>
              </a:rPr>
              <a:t>// Turn OFF  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Aldhabi" panose="01000000000000000000" pitchFamily="2" charset="-78"/>
                <a:cs typeface="Aldhabi" panose="01000000000000000000" pitchFamily="2" charset="-78"/>
              </a:rPr>
              <a:t> if (roll &gt; 30) { analogWrite(LED, brightness++); } </a:t>
            </a:r>
            <a:r>
              <a:rPr lang="ar-SA" sz="1800"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lang="en-US" sz="1800" dirty="0">
                <a:latin typeface="Aldhabi" panose="01000000000000000000" pitchFamily="2" charset="-78"/>
                <a:cs typeface="Aldhabi" panose="01000000000000000000" pitchFamily="2" charset="-78"/>
              </a:rPr>
              <a:t>// Brighter  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Aldhabi" panose="01000000000000000000" pitchFamily="2" charset="-78"/>
                <a:cs typeface="Aldhabi" panose="01000000000000000000" pitchFamily="2" charset="-78"/>
              </a:rPr>
              <a:t> if (roll &lt; -30) { analogWrite(LED, brightness--); }</a:t>
            </a:r>
            <a:r>
              <a:rPr lang="ar-SA" sz="1800"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lang="en-US" sz="1800" dirty="0">
                <a:latin typeface="Aldhabi" panose="01000000000000000000" pitchFamily="2" charset="-78"/>
                <a:cs typeface="Aldhabi" panose="01000000000000000000" pitchFamily="2" charset="-78"/>
              </a:rPr>
              <a:t> // Dimmer  </a:t>
            </a:r>
          </a:p>
          <a:p>
            <a:pPr marL="36900" indent="0">
              <a:buNone/>
            </a:pPr>
            <a:r>
              <a:rPr lang="en-US" dirty="0">
                <a:solidFill>
                  <a:srgbClr val="C6B9FB"/>
                </a:solidFill>
                <a:latin typeface="Bahnschrift" panose="020B0502040204020203" pitchFamily="34" charset="0"/>
              </a:rPr>
              <a:t>Step 3: LED Response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Digital Control (ON/OFF)** → Using `digitalWrite()`.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Analog Control (Brightness)** → Using `analogWrite()` (PWM). </a:t>
            </a:r>
          </a:p>
        </p:txBody>
      </p:sp>
    </p:spTree>
    <p:extLst>
      <p:ext uri="{BB962C8B-B14F-4D97-AF65-F5344CB8AC3E}">
        <p14:creationId xmlns:p14="http://schemas.microsoft.com/office/powerpoint/2010/main" val="3126904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A271C-34DD-09E3-FFD0-7A0D65BCF718}"/>
              </a:ext>
            </a:extLst>
          </p:cNvPr>
          <p:cNvSpPr/>
          <p:nvPr/>
        </p:nvSpPr>
        <p:spPr>
          <a:xfrm>
            <a:off x="2955036" y="213953"/>
            <a:ext cx="6281928" cy="673016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F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Algerian" panose="04020705040A02060702" pitchFamily="82" charset="0"/>
                <a:ea typeface="+mj-ea"/>
              </a:rPr>
              <a:t>Potential Applications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7D71E9-A2FB-02DF-482F-F7421AA97B17}"/>
              </a:ext>
            </a:extLst>
          </p:cNvPr>
          <p:cNvSpPr/>
          <p:nvPr/>
        </p:nvSpPr>
        <p:spPr>
          <a:xfrm>
            <a:off x="2955036" y="3646341"/>
            <a:ext cx="6281928" cy="688256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F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Algerian" panose="04020705040A02060702" pitchFamily="82" charset="0"/>
                <a:ea typeface="+mj-ea"/>
              </a:rPr>
              <a:t>Future</a:t>
            </a:r>
            <a:r>
              <a:rPr lang="en-US" dirty="0"/>
              <a:t> </a:t>
            </a:r>
            <a:r>
              <a:rPr lang="en-US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F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Algerian" panose="04020705040A02060702" pitchFamily="82" charset="0"/>
                <a:ea typeface="+mj-ea"/>
              </a:rPr>
              <a:t>Improvements :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639AD637-61A4-F4D4-FF4D-282AED38F576}"/>
              </a:ext>
            </a:extLst>
          </p:cNvPr>
          <p:cNvSpPr/>
          <p:nvPr/>
        </p:nvSpPr>
        <p:spPr>
          <a:xfrm>
            <a:off x="1967484" y="989668"/>
            <a:ext cx="8257032" cy="2331720"/>
          </a:xfrm>
          <a:prstGeom prst="flowChartAlternateProcess">
            <a:avLst/>
          </a:prstGeom>
          <a:solidFill>
            <a:schemeClr val="bg1">
              <a:lumMod val="75000"/>
              <a:lumOff val="2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3226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Smart Home Lighting – Control lights with hand movements.  </a:t>
            </a:r>
          </a:p>
          <a:p>
            <a:pPr marL="3226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Touchless Interfaces – Useful in hospitals or labs.  </a:t>
            </a:r>
          </a:p>
          <a:p>
            <a:pPr marL="3226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Educational Tool – Learn about sensors, Arduino, and PWM.  </a:t>
            </a:r>
          </a:p>
          <a:p>
            <a:pPr marL="3226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Gaming Controllers – Gesture-based input for DIY projects.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4AB1E23-7A06-A756-EDE7-FFEB87C326F3}"/>
              </a:ext>
            </a:extLst>
          </p:cNvPr>
          <p:cNvSpPr/>
          <p:nvPr/>
        </p:nvSpPr>
        <p:spPr>
          <a:xfrm>
            <a:off x="1967484" y="4430950"/>
            <a:ext cx="8257032" cy="2041568"/>
          </a:xfrm>
          <a:prstGeom prst="flowChartAlternateProcess">
            <a:avLst/>
          </a:prstGeom>
          <a:solidFill>
            <a:schemeClr val="bg1">
              <a:lumMod val="75000"/>
              <a:lumOff val="2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322650" indent="-285750" 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 Add More LEDs/RGB Control → Different colors for different gestures. </a:t>
            </a:r>
          </a:p>
          <a:p>
            <a:pPr marL="322650" indent="-285750" 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Wireless Control (Bluetooth/Wi-Fi) → Use ESP8266/ESP32 for remote control. </a:t>
            </a:r>
          </a:p>
          <a:p>
            <a:pPr marL="322650" indent="-285750" 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Machine Learning – Train a model to recognize complex gestures. </a:t>
            </a:r>
          </a:p>
        </p:txBody>
      </p:sp>
    </p:spTree>
    <p:extLst>
      <p:ext uri="{BB962C8B-B14F-4D97-AF65-F5344CB8AC3E}">
        <p14:creationId xmlns:p14="http://schemas.microsoft.com/office/powerpoint/2010/main" val="16264344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300031-212A-E27C-A7AE-0FF9161FEF56}"/>
              </a:ext>
            </a:extLst>
          </p:cNvPr>
          <p:cNvSpPr/>
          <p:nvPr/>
        </p:nvSpPr>
        <p:spPr>
          <a:xfrm>
            <a:off x="905256" y="1545336"/>
            <a:ext cx="4946904" cy="51064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#include &lt;</a:t>
            </a:r>
            <a:r>
              <a:rPr lang="en-US" sz="1100" dirty="0" err="1"/>
              <a:t>Wire.h</a:t>
            </a:r>
            <a:r>
              <a:rPr lang="en-US" sz="1100" dirty="0"/>
              <a:t>&gt;</a:t>
            </a:r>
          </a:p>
          <a:p>
            <a:r>
              <a:rPr lang="en-US" sz="1100" dirty="0"/>
              <a:t>#include &lt;MPU6050_light.h&gt;</a:t>
            </a:r>
          </a:p>
          <a:p>
            <a:endParaRPr lang="en-US" sz="1100" dirty="0"/>
          </a:p>
          <a:p>
            <a:r>
              <a:rPr lang="en-US" sz="1100" dirty="0"/>
              <a:t>MPU6050 </a:t>
            </a:r>
            <a:r>
              <a:rPr lang="en-US" sz="1100" dirty="0" err="1"/>
              <a:t>mpu</a:t>
            </a:r>
            <a:r>
              <a:rPr lang="en-US" sz="1100" dirty="0"/>
              <a:t>(Wire);  // Instantiate an MPU6050 object</a:t>
            </a:r>
          </a:p>
          <a:p>
            <a:r>
              <a:rPr lang="en-US" sz="1100" dirty="0"/>
              <a:t>int </a:t>
            </a:r>
            <a:r>
              <a:rPr lang="en-US" sz="1100" dirty="0" err="1"/>
              <a:t>ledPin</a:t>
            </a:r>
            <a:r>
              <a:rPr lang="en-US" sz="1100" dirty="0"/>
              <a:t> = 10;   // Pin for the LED (PWM-capable pin)</a:t>
            </a:r>
          </a:p>
          <a:p>
            <a:r>
              <a:rPr lang="en-US" sz="1100" dirty="0"/>
              <a:t>float threshold = 0.3; // Gesture threshold to detect significant movement</a:t>
            </a:r>
          </a:p>
          <a:p>
            <a:r>
              <a:rPr lang="en-US" sz="1100" dirty="0"/>
              <a:t>int ledBrightness = 0;  // Start with the LED off (brightness = 0)</a:t>
            </a:r>
          </a:p>
          <a:p>
            <a:r>
              <a:rPr lang="en-US" sz="1100" dirty="0"/>
              <a:t>bool ledOn;</a:t>
            </a:r>
          </a:p>
          <a:p>
            <a:endParaRPr lang="en-US" sz="1100" dirty="0"/>
          </a:p>
          <a:p>
            <a:r>
              <a:rPr lang="en-US" sz="1100" dirty="0"/>
              <a:t>void setup()</a:t>
            </a:r>
          </a:p>
          <a:p>
            <a:r>
              <a:rPr lang="en-US" sz="1100" dirty="0"/>
              <a:t>{  </a:t>
            </a:r>
          </a:p>
          <a:p>
            <a:pPr>
              <a:tabLst>
                <a:tab pos="182880" algn="l"/>
              </a:tabLst>
            </a:pPr>
            <a:r>
              <a:rPr lang="en-US" sz="1100" dirty="0"/>
              <a:t>	</a:t>
            </a:r>
            <a:r>
              <a:rPr lang="en-US" sz="1100" dirty="0" err="1"/>
              <a:t>Serial.begin</a:t>
            </a:r>
            <a:r>
              <a:rPr lang="en-US" sz="1100" dirty="0"/>
              <a:t>(9600);  // Start serial communication </a:t>
            </a:r>
          </a:p>
          <a:p>
            <a:pPr defTabSz="182880">
              <a:tabLst>
                <a:tab pos="182880" algn="l"/>
              </a:tabLst>
            </a:pPr>
            <a:r>
              <a:rPr lang="en-US" sz="1100" dirty="0"/>
              <a:t>	</a:t>
            </a:r>
            <a:r>
              <a:rPr lang="en-US" sz="1100" dirty="0" err="1"/>
              <a:t>Wire.begin</a:t>
            </a:r>
            <a:r>
              <a:rPr lang="en-US" sz="1100" dirty="0"/>
              <a:t>(); // Start I2C communication  </a:t>
            </a:r>
          </a:p>
          <a:p>
            <a:r>
              <a:rPr lang="en-US" sz="1100" dirty="0"/>
              <a:t>     byte status = </a:t>
            </a:r>
            <a:r>
              <a:rPr lang="en-US" sz="1100" dirty="0" err="1"/>
              <a:t>mpu.begin</a:t>
            </a:r>
            <a:r>
              <a:rPr lang="en-US" sz="1100" dirty="0"/>
              <a:t>();  </a:t>
            </a:r>
          </a:p>
          <a:p>
            <a:r>
              <a:rPr lang="en-US" sz="1100" dirty="0"/>
              <a:t>     </a:t>
            </a:r>
            <a:r>
              <a:rPr lang="en-US" sz="1100" dirty="0" err="1"/>
              <a:t>Serial.print</a:t>
            </a:r>
            <a:r>
              <a:rPr lang="en-US" sz="1100" dirty="0"/>
              <a:t>(F("MPU6050 status: "));  </a:t>
            </a:r>
          </a:p>
          <a:p>
            <a:r>
              <a:rPr lang="en-US" sz="1100" dirty="0"/>
              <a:t>     </a:t>
            </a:r>
            <a:r>
              <a:rPr lang="en-US" sz="1100" dirty="0" err="1"/>
              <a:t>Serial.println</a:t>
            </a:r>
            <a:r>
              <a:rPr lang="en-US" sz="1100" dirty="0"/>
              <a:t>(status);  </a:t>
            </a:r>
          </a:p>
          <a:p>
            <a:r>
              <a:rPr lang="en-US" sz="1100" dirty="0"/>
              <a:t>    while(status!=0){ } // stop everything if could not connect to MPU6050          </a:t>
            </a:r>
          </a:p>
          <a:p>
            <a:endParaRPr lang="en-US" sz="1100" dirty="0"/>
          </a:p>
          <a:p>
            <a:r>
              <a:rPr lang="en-US" sz="1100" dirty="0"/>
              <a:t>    </a:t>
            </a:r>
            <a:r>
              <a:rPr lang="en-US" sz="1100" dirty="0" err="1"/>
              <a:t>Serial.println</a:t>
            </a:r>
            <a:r>
              <a:rPr lang="en-US" sz="1100" dirty="0"/>
              <a:t>(F("Calculating offsets, do not move MPU6050")); </a:t>
            </a:r>
          </a:p>
          <a:p>
            <a:r>
              <a:rPr lang="en-US" sz="1100" dirty="0"/>
              <a:t>    delay(1000); 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mpu.calcOffsets</a:t>
            </a:r>
            <a:r>
              <a:rPr lang="en-US" sz="1100" dirty="0"/>
              <a:t>(</a:t>
            </a:r>
            <a:r>
              <a:rPr lang="en-US" sz="1100" dirty="0" err="1"/>
              <a:t>true,true</a:t>
            </a:r>
            <a:r>
              <a:rPr lang="en-US" sz="1100" dirty="0"/>
              <a:t>); // gyro and </a:t>
            </a:r>
            <a:r>
              <a:rPr lang="en-US" sz="1100" dirty="0" err="1"/>
              <a:t>accelero</a:t>
            </a:r>
            <a:r>
              <a:rPr lang="en-US" sz="1100" dirty="0"/>
              <a:t>  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Serial.println</a:t>
            </a:r>
            <a:r>
              <a:rPr lang="en-US" sz="1100" dirty="0"/>
              <a:t>("Done!\n"); </a:t>
            </a:r>
          </a:p>
          <a:p>
            <a:endParaRPr lang="en-US" sz="1100" dirty="0"/>
          </a:p>
          <a:p>
            <a:r>
              <a:rPr lang="en-US" sz="1100" dirty="0"/>
              <a:t>    </a:t>
            </a:r>
            <a:r>
              <a:rPr lang="en-US" sz="1100" dirty="0" err="1"/>
              <a:t>pinMode</a:t>
            </a:r>
            <a:r>
              <a:rPr lang="en-US" sz="1100" dirty="0"/>
              <a:t>(</a:t>
            </a:r>
            <a:r>
              <a:rPr lang="en-US" sz="1100" dirty="0" err="1"/>
              <a:t>ledPin</a:t>
            </a:r>
            <a:r>
              <a:rPr lang="en-US" sz="1100" dirty="0"/>
              <a:t>, OUTPUT);  // Set LED pin as output</a:t>
            </a:r>
          </a:p>
          <a:p>
            <a:r>
              <a:rPr lang="en-US" sz="1100" dirty="0"/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675C97-E797-F9D3-6A41-E82F5A8ACC32}"/>
              </a:ext>
            </a:extLst>
          </p:cNvPr>
          <p:cNvSpPr/>
          <p:nvPr/>
        </p:nvSpPr>
        <p:spPr>
          <a:xfrm>
            <a:off x="6601968" y="219456"/>
            <a:ext cx="4946904" cy="643229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void loop() </a:t>
            </a:r>
          </a:p>
          <a:p>
            <a:r>
              <a:rPr lang="en-US" sz="1100" dirty="0"/>
              <a:t>{  </a:t>
            </a:r>
          </a:p>
          <a:p>
            <a:r>
              <a:rPr lang="en-US" sz="1100" dirty="0"/>
              <a:t>// Read raw accelerometer and gyroscope values 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mpu.update</a:t>
            </a:r>
            <a:r>
              <a:rPr lang="en-US" sz="1100" dirty="0"/>
              <a:t>(); </a:t>
            </a:r>
          </a:p>
          <a:p>
            <a:r>
              <a:rPr lang="en-US" sz="1100" dirty="0"/>
              <a:t>    float ax, ay, </a:t>
            </a:r>
            <a:r>
              <a:rPr lang="en-US" sz="1100" dirty="0" err="1"/>
              <a:t>az</a:t>
            </a:r>
            <a:r>
              <a:rPr lang="en-US" sz="1100" dirty="0"/>
              <a:t>;  </a:t>
            </a:r>
          </a:p>
          <a:p>
            <a:r>
              <a:rPr lang="en-US" sz="1100" dirty="0"/>
              <a:t>    float </a:t>
            </a:r>
            <a:r>
              <a:rPr lang="en-US" sz="1100" dirty="0" err="1"/>
              <a:t>rx</a:t>
            </a:r>
            <a:r>
              <a:rPr lang="en-US" sz="1100" dirty="0"/>
              <a:t>, </a:t>
            </a:r>
            <a:r>
              <a:rPr lang="en-US" sz="1100" dirty="0" err="1"/>
              <a:t>ry</a:t>
            </a:r>
            <a:r>
              <a:rPr lang="en-US" sz="1100" dirty="0"/>
              <a:t>, </a:t>
            </a:r>
            <a:r>
              <a:rPr lang="en-US" sz="1100" dirty="0" err="1"/>
              <a:t>rz</a:t>
            </a:r>
            <a:r>
              <a:rPr lang="en-US" sz="1100" dirty="0"/>
              <a:t>; </a:t>
            </a:r>
          </a:p>
          <a:p>
            <a:r>
              <a:rPr lang="en-US" sz="1100" dirty="0"/>
              <a:t>    ax = </a:t>
            </a:r>
            <a:r>
              <a:rPr lang="en-US" sz="1100" dirty="0" err="1"/>
              <a:t>mpu.getAccX</a:t>
            </a:r>
            <a:r>
              <a:rPr lang="en-US" sz="1100" dirty="0"/>
              <a:t>(); ay = </a:t>
            </a:r>
            <a:r>
              <a:rPr lang="en-US" sz="1100" dirty="0" err="1"/>
              <a:t>mpu.getAccY</a:t>
            </a:r>
            <a:r>
              <a:rPr lang="en-US" sz="1100" dirty="0"/>
              <a:t>(); </a:t>
            </a:r>
            <a:r>
              <a:rPr lang="en-US" sz="1100" dirty="0" err="1"/>
              <a:t>az</a:t>
            </a:r>
            <a:r>
              <a:rPr lang="en-US" sz="1100" dirty="0"/>
              <a:t> = </a:t>
            </a:r>
            <a:r>
              <a:rPr lang="en-US" sz="1100" dirty="0" err="1"/>
              <a:t>mpu.getAccZ</a:t>
            </a:r>
            <a:r>
              <a:rPr lang="en-US" sz="1100" dirty="0"/>
              <a:t>(); 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rx</a:t>
            </a:r>
            <a:r>
              <a:rPr lang="en-US" sz="1100" dirty="0"/>
              <a:t> = </a:t>
            </a:r>
            <a:r>
              <a:rPr lang="en-US" sz="1100" dirty="0" err="1"/>
              <a:t>mpu.getAngleX</a:t>
            </a:r>
            <a:r>
              <a:rPr lang="en-US" sz="1100" dirty="0"/>
              <a:t>(); </a:t>
            </a:r>
            <a:r>
              <a:rPr lang="en-US" sz="1100" dirty="0" err="1"/>
              <a:t>ry</a:t>
            </a:r>
            <a:r>
              <a:rPr lang="en-US" sz="1100" dirty="0"/>
              <a:t> = </a:t>
            </a:r>
            <a:r>
              <a:rPr lang="en-US" sz="1100" dirty="0" err="1"/>
              <a:t>mpu.getAngleY</a:t>
            </a:r>
            <a:r>
              <a:rPr lang="en-US" sz="1100" dirty="0"/>
              <a:t>(); </a:t>
            </a:r>
            <a:r>
              <a:rPr lang="en-US" sz="1100" dirty="0" err="1"/>
              <a:t>rz</a:t>
            </a:r>
            <a:r>
              <a:rPr lang="en-US" sz="1100" dirty="0"/>
              <a:t> = </a:t>
            </a:r>
            <a:r>
              <a:rPr lang="en-US" sz="1100" dirty="0" err="1"/>
              <a:t>mpu.getAngleZ</a:t>
            </a:r>
            <a:r>
              <a:rPr lang="en-US" sz="1100" dirty="0"/>
              <a:t>();  </a:t>
            </a:r>
          </a:p>
          <a:p>
            <a:endParaRPr lang="en-US" sz="1100" dirty="0"/>
          </a:p>
          <a:p>
            <a:r>
              <a:rPr lang="en-US" sz="1100" dirty="0"/>
              <a:t>// Calculate the accelerometer values for tilt detection </a:t>
            </a:r>
          </a:p>
          <a:p>
            <a:r>
              <a:rPr lang="en-US" sz="1100" dirty="0"/>
              <a:t>    float </a:t>
            </a:r>
            <a:r>
              <a:rPr lang="en-US" sz="1100" dirty="0" err="1"/>
              <a:t>tiltLeftRight</a:t>
            </a:r>
            <a:r>
              <a:rPr lang="en-US" sz="1100" dirty="0"/>
              <a:t> = ax;   // X-axis accelerometer value </a:t>
            </a:r>
          </a:p>
          <a:p>
            <a:endParaRPr lang="en-US" sz="1100" dirty="0"/>
          </a:p>
          <a:p>
            <a:r>
              <a:rPr lang="en-US" sz="1100" dirty="0"/>
              <a:t>    </a:t>
            </a:r>
            <a:r>
              <a:rPr lang="en-US" sz="1100" dirty="0" err="1"/>
              <a:t>Serial.print</a:t>
            </a:r>
            <a:r>
              <a:rPr lang="en-US" sz="1100" dirty="0"/>
              <a:t>("</a:t>
            </a:r>
            <a:r>
              <a:rPr lang="en-US" sz="1100" dirty="0" err="1"/>
              <a:t>tiltLeftRight</a:t>
            </a:r>
            <a:r>
              <a:rPr lang="en-US" sz="1100" dirty="0"/>
              <a:t>: "); 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Serial.println</a:t>
            </a:r>
            <a:r>
              <a:rPr lang="en-US" sz="1100" dirty="0"/>
              <a:t>(</a:t>
            </a:r>
            <a:r>
              <a:rPr lang="en-US" sz="1100" dirty="0" err="1"/>
              <a:t>tiltLeftRight</a:t>
            </a:r>
            <a:r>
              <a:rPr lang="en-US" sz="1100" dirty="0"/>
              <a:t>); </a:t>
            </a:r>
          </a:p>
          <a:p>
            <a:endParaRPr lang="en-US" sz="1100" dirty="0"/>
          </a:p>
          <a:p>
            <a:r>
              <a:rPr lang="en-US" sz="1100" dirty="0"/>
              <a:t>// Detect tilt gestures for left/right (to control on/off state) </a:t>
            </a:r>
          </a:p>
          <a:p>
            <a:r>
              <a:rPr lang="en-US" sz="1100" dirty="0"/>
              <a:t>    if (</a:t>
            </a:r>
            <a:r>
              <a:rPr lang="en-US" sz="1100" dirty="0" err="1"/>
              <a:t>tiltLeftRight</a:t>
            </a:r>
            <a:r>
              <a:rPr lang="en-US" sz="1100" dirty="0"/>
              <a:t> &gt; threshold)</a:t>
            </a:r>
          </a:p>
          <a:p>
            <a:r>
              <a:rPr lang="en-US" sz="1100" dirty="0"/>
              <a:t>   { </a:t>
            </a:r>
          </a:p>
          <a:p>
            <a:r>
              <a:rPr lang="en-US" sz="1100" dirty="0"/>
              <a:t>	</a:t>
            </a:r>
            <a:r>
              <a:rPr lang="en-US" sz="1100" dirty="0" err="1"/>
              <a:t>Serial.println</a:t>
            </a:r>
            <a:r>
              <a:rPr lang="en-US" sz="1100" dirty="0"/>
              <a:t>("Tilt Left Detected"); </a:t>
            </a:r>
          </a:p>
          <a:p>
            <a:r>
              <a:rPr lang="en-US" sz="1100" dirty="0"/>
              <a:t>	digitalWrite(</a:t>
            </a:r>
            <a:r>
              <a:rPr lang="en-US" sz="1100" dirty="0" err="1"/>
              <a:t>ledPin</a:t>
            </a:r>
            <a:r>
              <a:rPr lang="en-US" sz="1100" dirty="0"/>
              <a:t>, LOW); // Turn LED off </a:t>
            </a:r>
          </a:p>
          <a:p>
            <a:r>
              <a:rPr lang="en-US" sz="1100" dirty="0"/>
              <a:t>	ledOn = false; </a:t>
            </a:r>
          </a:p>
          <a:p>
            <a:r>
              <a:rPr lang="en-US" sz="1100" dirty="0"/>
              <a:t>    } </a:t>
            </a:r>
          </a:p>
          <a:p>
            <a:r>
              <a:rPr lang="en-US" sz="1100" dirty="0"/>
              <a:t>     else if (</a:t>
            </a:r>
            <a:r>
              <a:rPr lang="en-US" sz="1100" dirty="0" err="1"/>
              <a:t>tiltLeftRight</a:t>
            </a:r>
            <a:r>
              <a:rPr lang="en-US" sz="1100" dirty="0"/>
              <a:t> &lt; -threshold)</a:t>
            </a:r>
          </a:p>
          <a:p>
            <a:r>
              <a:rPr lang="en-US" sz="1100" dirty="0"/>
              <a:t>     {    </a:t>
            </a:r>
          </a:p>
          <a:p>
            <a:r>
              <a:rPr lang="en-US" sz="1100" dirty="0"/>
              <a:t>	</a:t>
            </a:r>
            <a:r>
              <a:rPr lang="en-US" sz="1100" dirty="0" err="1"/>
              <a:t>Serial.println</a:t>
            </a:r>
            <a:r>
              <a:rPr lang="en-US" sz="1100" dirty="0"/>
              <a:t>("Tilt Right Detected"); </a:t>
            </a:r>
          </a:p>
          <a:p>
            <a:r>
              <a:rPr lang="en-US" sz="1100" dirty="0"/>
              <a:t>	digitalWrite(</a:t>
            </a:r>
            <a:r>
              <a:rPr lang="en-US" sz="1100" dirty="0" err="1"/>
              <a:t>ledPin</a:t>
            </a:r>
            <a:r>
              <a:rPr lang="en-US" sz="1100" dirty="0"/>
              <a:t>, HIGH);  // Turn LED on </a:t>
            </a:r>
          </a:p>
          <a:p>
            <a:r>
              <a:rPr lang="en-US" sz="1100" dirty="0"/>
              <a:t> 	ledOn = true;  </a:t>
            </a:r>
          </a:p>
          <a:p>
            <a:r>
              <a:rPr lang="en-US" sz="1100" dirty="0"/>
              <a:t>     }</a:t>
            </a:r>
          </a:p>
          <a:p>
            <a:r>
              <a:rPr lang="en-US" sz="1100" dirty="0"/>
              <a:t>     if (ledOn)</a:t>
            </a:r>
          </a:p>
          <a:p>
            <a:r>
              <a:rPr lang="en-US" sz="1100" dirty="0"/>
              <a:t>    { </a:t>
            </a:r>
          </a:p>
          <a:p>
            <a:r>
              <a:rPr lang="en-US" sz="1100" dirty="0"/>
              <a:t>	ledBrightness = map(</a:t>
            </a:r>
            <a:r>
              <a:rPr lang="en-US" sz="1100" dirty="0" err="1"/>
              <a:t>rz</a:t>
            </a:r>
            <a:r>
              <a:rPr lang="en-US" sz="1100" dirty="0"/>
              <a:t>, -90, 90 , 0,255); </a:t>
            </a:r>
          </a:p>
          <a:p>
            <a:r>
              <a:rPr lang="en-US" sz="1100" dirty="0"/>
              <a:t>	analogWrite(</a:t>
            </a:r>
            <a:r>
              <a:rPr lang="en-US" sz="1100" dirty="0" err="1"/>
              <a:t>ledPin</a:t>
            </a:r>
            <a:r>
              <a:rPr lang="en-US" sz="1100" dirty="0"/>
              <a:t>, ledBrightness); // Update LED brightness </a:t>
            </a:r>
          </a:p>
          <a:p>
            <a:r>
              <a:rPr lang="en-US" sz="1100" dirty="0"/>
              <a:t>    }</a:t>
            </a:r>
          </a:p>
          <a:p>
            <a:endParaRPr lang="en-US" sz="1100" dirty="0"/>
          </a:p>
          <a:p>
            <a:r>
              <a:rPr lang="en-US" sz="1100" dirty="0"/>
              <a:t>    delay(100); // Debounce delay to avoid multiple triggers</a:t>
            </a:r>
          </a:p>
          <a:p>
            <a:r>
              <a:rPr lang="en-US" sz="1100" dirty="0"/>
              <a:t>}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FF3A87-C3AA-8BC2-E9D8-90DEF27AB4C6}"/>
              </a:ext>
            </a:extLst>
          </p:cNvPr>
          <p:cNvSpPr/>
          <p:nvPr/>
        </p:nvSpPr>
        <p:spPr>
          <a:xfrm>
            <a:off x="1764792" y="402336"/>
            <a:ext cx="2907792" cy="95097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Project Code :</a:t>
            </a:r>
          </a:p>
        </p:txBody>
      </p:sp>
    </p:spTree>
    <p:extLst>
      <p:ext uri="{BB962C8B-B14F-4D97-AF65-F5344CB8AC3E}">
        <p14:creationId xmlns:p14="http://schemas.microsoft.com/office/powerpoint/2010/main" val="3315464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0BC5F5BA-E24C-31B3-2761-6CF13514B666}"/>
              </a:ext>
            </a:extLst>
          </p:cNvPr>
          <p:cNvSpPr/>
          <p:nvPr/>
        </p:nvSpPr>
        <p:spPr>
          <a:xfrm>
            <a:off x="774192" y="4713732"/>
            <a:ext cx="10643616" cy="2020824"/>
          </a:xfrm>
          <a:prstGeom prst="flowChartAlternateProces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F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Algerian" panose="04020705040A02060702" pitchFamily="82" charset="0"/>
                <a:ea typeface="+mj-ea"/>
              </a:rPr>
              <a:t>Conclusion</a:t>
            </a:r>
            <a:r>
              <a:rPr lang="en-US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00B0F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Algerian" panose="04020705040A02060702" pitchFamily="82" charset="0"/>
                <a:ea typeface="+mj-ea"/>
              </a:rPr>
              <a:t> :</a:t>
            </a:r>
          </a:p>
          <a:p>
            <a:pPr algn="ctr"/>
            <a:r>
              <a:rPr lang="en-US" dirty="0"/>
              <a:t>  This project is a (simple yet powerful) example of [sensor-based automation].</a:t>
            </a:r>
          </a:p>
          <a:p>
            <a:pPr algn="ctr"/>
            <a:r>
              <a:rPr lang="en-US" dirty="0"/>
              <a:t>By combining “MPU6050 + Arduino”, we can create *touchless control systems* with endless possibilities for expansion.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D83009-0DDD-6583-5890-0541158C5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15" y="57150"/>
            <a:ext cx="8657070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759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208</TotalTime>
  <Words>1033</Words>
  <Application>Microsoft Office PowerPoint</Application>
  <PresentationFormat>Widescreen</PresentationFormat>
  <Paragraphs>117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Aldhabi</vt:lpstr>
      <vt:lpstr>Algerian</vt:lpstr>
      <vt:lpstr>Arial</vt:lpstr>
      <vt:lpstr>Arial Rounded MT Bold</vt:lpstr>
      <vt:lpstr>Bahnschrift</vt:lpstr>
      <vt:lpstr>Calisto MT</vt:lpstr>
      <vt:lpstr>Consolas</vt:lpstr>
      <vt:lpstr>Wingdings</vt:lpstr>
      <vt:lpstr>Wingdings 2</vt:lpstr>
      <vt:lpstr>Slate</vt:lpstr>
      <vt:lpstr>MPU 6050 Project</vt:lpstr>
      <vt:lpstr>Introduction :</vt:lpstr>
      <vt:lpstr>Project Components &amp; Their Roles :</vt:lpstr>
      <vt:lpstr>How it works 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sherif Ainya</dc:creator>
  <cp:lastModifiedBy>Sherif ainia</cp:lastModifiedBy>
  <cp:revision>13</cp:revision>
  <dcterms:created xsi:type="dcterms:W3CDTF">2025-06-19T22:48:05Z</dcterms:created>
  <dcterms:modified xsi:type="dcterms:W3CDTF">2025-06-20T16:00:25Z</dcterms:modified>
</cp:coreProperties>
</file>